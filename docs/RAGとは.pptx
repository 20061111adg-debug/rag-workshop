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評価制度の目標として、RAGを自分で実装しアーキテクチャを学習しました。今日は仕組みと、作る過程で分かったことを共有します。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RAGは Retrieval-Augmented Generation の略ですが、要は『カンニングペーパーを渡す仕組み』だと思ってください。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ここが今日いちばん伝えたい点です。AIには検索機能は付いていません。探すのは普通のプログラムで、AIは最後に渡された文章を読んでいるだけです。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この3ステップだけ覚えて帰っていただければ十分です。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実際に一番効いたのがこれです。先頭に1行足すだけ。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モデルを変えずに、切り方だけでここまで変わりました。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片方が万能ではありません。だから混ぜるという発想が出てきます。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スコアが0.8あるから関連あり、とは言えません。狭い範囲に固まります。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AIから見れば、ただの長い1通のメッセージです。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学習が目的なので、あえてライブラリを避けました。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検索の精度はLLMなしで測れます。ここが費用対効果の高い部分です。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ここで実際にブラウザのデモをお見せします。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これが今回いちばんの学びでした。評価する側を評価しないと気づけません。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効きました、ではなく、この規模では大きな差だけが確認できました、が正確です。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権限制御は必ず聞かれる論点です。今回は未実装だと正直に伝えます。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ご清聴ありがとうございました。質問があればどうぞ。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自作して分かったこと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2286000"/>
            <a:ext cx="102412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RAG とは何か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931920"/>
            <a:ext cx="96012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社内文書検索の仕組みを、ライブラリを使わず自分で組んで確かめた記録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AI は自社の社内規程を知らない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学習していないので当然。ではどうするか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「うちの在宅勤務手当はいくら？」と聞いても答えられない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188720" y="283464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方法 A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AI に社内規程を覚えさせる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専門知識と費用が必要。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規程が変わるたびにやり直し。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現実的ではない。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14600"/>
            <a:ext cx="5029200" cy="30175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675120" y="283464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方法 B</a:t>
            </a:r>
          </a:p>
          <a:p>
            <a:pPr algn="l">
              <a:spcAft>
                <a:spcPts val="14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質問と一緒に、関係する部分を渡す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必要なのは「探す仕組み」だけ。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文書を差し替えれば知識も変わる。</a:t>
            </a:r>
          </a:p>
          <a:p>
            <a:pPr algn="l">
              <a:spcAft>
                <a:spcPts val="0"/>
              </a:spcAft>
            </a:pPr>
            <a:r>
              <a:rPr sz="15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← これが RAG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いちばん大事なこと：AI は検索していない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ここを誤解している人が非常に多い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❌ よくある誤解 ： AI が社内文書を探しに行って答える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4231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51560" y="269748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質問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「在宅勤務の手当は？」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18688" y="3127248"/>
            <a:ext cx="384048" cy="329184"/>
          </a:xfrm>
          <a:prstGeom prst="rightArrow">
            <a:avLst/>
          </a:prstGeom>
          <a:solidFill>
            <a:srgbClr val="C8B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11879" y="24231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3840479" y="269748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① 探す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普通のプログラム
AI は関与しない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007608" y="3127248"/>
            <a:ext cx="384048" cy="329184"/>
          </a:xfrm>
          <a:prstGeom prst="rightArrow">
            <a:avLst/>
          </a:prstGeom>
          <a:solidFill>
            <a:srgbClr val="C8B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4231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629400" y="269748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② 貼り付け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見つけた文章を
質問の上に置く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796528" y="3127248"/>
            <a:ext cx="384048" cy="329184"/>
          </a:xfrm>
          <a:prstGeom prst="rightArrow">
            <a:avLst/>
          </a:prstGeom>
          <a:solidFill>
            <a:srgbClr val="C8BF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89720" y="242316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418320" y="269748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③ AI に渡す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 の出番はここだけ
1 回呼ぶ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80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88720" y="4754880"/>
            <a:ext cx="978408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探す段階で見つけられなかった文書は、AI がどれだけ賢くても答えに出てこない。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だから RAG の改善は、AI を変えるより「探し方」を直すほうが効く。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仕組みは 3 ステップだけ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1143000" y="228600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06324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文書を小分けにする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規程を丸ごとは渡せない。
あらかじめ小さく切っておく。
どこで切るかが最重要。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96596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4754880" y="228600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06324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質問に近い紙を探す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言葉の一致で探す方法と、
意味の近さで探す方法がある。
得意分野が逆。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96596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8366760" y="2286000"/>
            <a:ext cx="566928" cy="566928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3063240"/>
            <a:ext cx="27432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AI に渡す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見つけた紙を質問の上に貼って
送る。「書いてなければ
書いてないと答えて」も添える。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864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この 3 つで全部。特別な魔法は無い。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ステップ 1 ： どこで切るか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決まった文字数で切ると、その紙だけでは意味が分からなくなる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103120"/>
            <a:ext cx="4389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✗ 決まった文字数で切る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…離席についてSlackに投稿すること。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6. 通信費および設備の補助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在宅勤務手当として月額5,000円を…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7. 執務環境の要件</a:t>
            </a:r>
          </a:p>
          <a:p>
            <a:pPr algn="l">
              <a:spcAft>
                <a:spcPts val="800"/>
              </a:spcAft>
            </a:pPr>
            <a:r>
              <a:rPr sz="11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自宅以外（カフェ等）で業務を行う場合は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前の話の途中で始まり、次の話の途中で終わる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874519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29400" y="2103120"/>
            <a:ext cx="43891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✓ 見出しごとに切り、見出しを頭に付ける</a:t>
            </a:r>
          </a:p>
          <a:p>
            <a:pPr algn="l">
              <a:spcAft>
                <a:spcPts val="400"/>
              </a:spcAft>
            </a:pPr>
            <a:r>
              <a:rPr sz="11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リモートワーク規程 ＞ 6. 通信費および設備の補助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在宅勤務手当として月額5,000円を支給する。</a:t>
            </a:r>
          </a:p>
          <a:p>
            <a:pPr algn="l">
              <a:spcAft>
                <a:spcPts val="1000"/>
              </a:spcAft>
            </a:pPr>
            <a:r>
              <a:rPr sz="11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スポット在宅のみの利用者には手当を支給せず…</a:t>
            </a:r>
          </a:p>
          <a:p>
            <a:pPr algn="l">
              <a:spcAft>
                <a:spcPts val="0"/>
              </a:spcAft>
            </a:pPr>
            <a:r>
              <a:rPr sz="12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この 1 行があるだけで、何の話か分かる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348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チャンクは単体で意味が通る必要がある。埋め込みは「その紙だけ」を見て判断するため、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本文に書かれていない文脈（何の規程の、どの節か）は、こちらで足してやる必要がある。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8686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この 1 行が、全工程で最大の改善だった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41 問の評価セットで測定（1.0 が満点）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4C3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素朴な実装</a:t>
            </a:r>
          </a:p>
          <a:p>
            <a:pPr algn="l">
              <a:spcAft>
                <a:spcPts val="600"/>
              </a:spcAft>
            </a:pPr>
            <a:r>
              <a:rPr sz="5400" b="1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0.605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決まった文字数で切る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06240" y="3383280"/>
            <a:ext cx="731520" cy="457200"/>
          </a:xfrm>
          <a:prstGeom prst="rightArrow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03520" y="2468880"/>
            <a:ext cx="3108960" cy="228600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77840" y="2743200"/>
            <a:ext cx="256032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F6E2DE"/>
                </a:solidFill>
                <a:latin typeface="Yu Gothic"/>
                <a:ea typeface="Yu Gothic"/>
                <a:cs typeface="Yu Gothic"/>
              </a:rPr>
              <a:t>見出し＋文脈ヘッダ</a:t>
            </a:r>
          </a:p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0.927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F6E2DE"/>
                </a:solidFill>
                <a:latin typeface="Yu Gothic"/>
                <a:ea typeface="Yu Gothic"/>
                <a:cs typeface="Yu Gothic"/>
              </a:rPr>
              <a:t>AI のモデルは同じまま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265176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要点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高性能な AI に替えたのではない。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文書の切り方を変えただけ。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地味な前処理が、いちばん効く。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ステップ 2 ： 探し方は 2 種類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得意分野が逆になっている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502920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言葉が一致するか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質問と同じ単語を含む紙を探す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得意 ： VaultTeam のような固有名詞・型番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苦手 ： 言い換え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（昔からある全文検索。BM25 という方式）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920240"/>
            <a:ext cx="5029200" cy="283464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2194560"/>
            <a:ext cx="429768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意味が近いか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文章を数字に変換して、近いものを探す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得意 ： 「家で働く」＝「在宅勤務」の言い換え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苦手 ： 知らない固有名詞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（埋め込みモデル。今回はローカルで実行）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両方を使って結果を混ぜることもできる（ハイブリッド検索）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「意味で探す」の正体は、ただの数字の比較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文章を 384 個の数字に変換し、その近さを測っているだけ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51560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「在宅勤務手当は月額5,000円」  →  [ 0.061, -0.008, -0.060, -0.035, … ]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「家で働くとお金はもらえる？」  →  [ 0.059, -0.011, -0.057, -0.030, … ]     ← 近い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実測した近さ（1.0 が最も近い）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リモートワークの手当について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840480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0.866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3877056"/>
            <a:ext cx="3979468" cy="21945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4261104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家で働くとお金はもらえる？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4261104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0.843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4297680"/>
            <a:ext cx="3306470" cy="219456"/>
          </a:xfrm>
          <a:prstGeom prst="rect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4681728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新幹線のグリーン車の利用条件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681728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0.787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4718304"/>
            <a:ext cx="1667865" cy="219456"/>
          </a:xfrm>
          <a:prstGeom prst="rect">
            <a:avLst/>
          </a:prstGeom>
          <a:solidFill>
            <a:srgbClr val="C0B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5102352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今日の天気はどうですか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5102352"/>
            <a:ext cx="640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0.769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5138928"/>
            <a:ext cx="1141171" cy="219456"/>
          </a:xfrm>
          <a:prstGeom prst="rect">
            <a:avLst/>
          </a:prstGeom>
          <a:solidFill>
            <a:srgbClr val="C0B6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「家で働くとお金は？」は一文字も共通していないのに 0.843。全く無関係な天気の話でも 0.769。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＝ 絶対値には意味がなく、順位を比べるためだけに使える。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ステップ 3 ： AI に渡しているものの全部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これが実際の送信内容。これ以上でも以下でもない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10515600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7840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# 参考文書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[1] 出典: リモートワーク規程 / 6. 通信費および設備の補助（更新日: 2026-04-01）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在宅勤務手当として月額5,000円を支給する。ハイブリッド勤務者も同額を支給する。</a:t>
            </a:r>
          </a:p>
          <a:p>
            <a:pPr algn="l">
              <a:spcAft>
                <a:spcPts val="1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初回セットアップ費用は上限50,000円まで会社が負担する。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# 質問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在宅勤務の手当はいくらですか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3035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あわせて「参考文書に無ければ、推測せず『記載がありません』と答えること」も指示する。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AI は知らないことをもっともらしく作る性質があるため（ハルシネーション）、その予防。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作ったもの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ベクトル DB も LangChain も使わず、検索の中核はすべて自前実装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2,300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行のコード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1920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749039" y="21031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41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問の評価セット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46520" y="21031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16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構成を比較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920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144000" y="2103120"/>
            <a:ext cx="21031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6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0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円のコスト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566160"/>
            <a:ext cx="5029200" cy="219456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88720" y="3794760"/>
            <a:ext cx="4297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自前で書いたもの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・BM25（言葉で探す・転置索引つき）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・ベクトルストア（意味で探す・30 行）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・結果の統合、並べ替え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・精度の測定（41 問の正解表つき）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66160"/>
            <a:ext cx="5029200" cy="2194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675120" y="3794760"/>
            <a:ext cx="429768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なぜ自前で書いたか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ライブラリを使うと、中で何が起きているか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分からないまま「動いた」で終わる。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実際、自分で書いたからこそ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後述の失敗に気づけた。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精度は AI を使わずに測れる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「正解がどこに書いてあるか」の表さえ作れば、あとは計算だけ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920240"/>
            <a:ext cx="1051560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質問  ： カフェで仕事をするときに守るべきことを、セキュリティと就業ルールの両面から</a:t>
            </a:r>
          </a:p>
          <a:p>
            <a:pPr algn="l">
              <a:spcAft>
                <a:spcPts val="0"/>
              </a:spcAft>
            </a:pPr>
            <a:r>
              <a:rPr sz="14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正解  ： リモートワーク規程「執務環境の要件」／ 情報セキュリティガイドライン「ネットワーク」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正解は「文章」ではなく「どこに書いてあるか」で持つ。だから表現が違っても採点できる。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206240"/>
            <a:ext cx="5029200" cy="155448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88720" y="443484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測っている指標（どちらも 1.0 が満点）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正解が何番目に出たか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上位 5 件に正解が入っていた割合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4206240"/>
            <a:ext cx="502920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675120" y="4434840"/>
            <a:ext cx="429768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ここが効いた理由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「なんとなく良くなった」で判断すると、</a:t>
            </a:r>
          </a:p>
          <a:p>
            <a:pPr algn="l">
              <a:spcAft>
                <a:spcPts val="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必ず間違える。次のページがその実例。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デモ ： 探し方を変えると結果が変わる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質問「VaultTeam って何ですか」に対する各構成の 1 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探し方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9659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1 位に出た文書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19659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時間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97280" y="247802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① 素朴（文字数で切る）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478024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✗ 新入社員FAQ / 経費について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24780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0.2ms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90087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36391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② 言葉で探す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136391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✗ 新入社員FAQ / PC・アカウント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31363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0.1ms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648455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379475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③ 意味で探す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794759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✗ 新入社員FAQ / PC・アカウント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379475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10ms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306823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97280" y="4453127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④ 両方を混ぜる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4453127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✗ 新入社員FAQ / PC・アカウント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45312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8.6ms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965191"/>
            <a:ext cx="10515600" cy="566928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97280" y="5111495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⑤ ＋ 並べ替え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06240" y="5111495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✓ 情報セキュリティガイドライン / アカウントと認証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511149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296ms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並べ替えを足した構成だけが正解に辿り着く。ただし検索時間は 0.1ms → 296ms と 3 桁違う。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精度と速度は引き合う。どこで折り合いを付けるかは、使う人が何秒待てるかで決まる。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いちばんの学び ： 測る物差しが壊れていた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41 問のうち 2 問、正解の場所を間違えて登録していた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46888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4C3E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88720" y="2697480"/>
            <a:ext cx="4297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間違えていた時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ある種類の質問だけ成績が伸びず、</a:t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「これは検索では解決できない問題だ」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と結論づけていた。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しかも、その確信は強かった。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2468880"/>
            <a:ext cx="5029200" cy="2377440"/>
          </a:xfrm>
          <a:prstGeom prst="roundRect">
            <a:avLst>
              <a:gd name="adj" fmla="val 6000"/>
            </a:avLst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75120" y="2697480"/>
            <a:ext cx="429768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F6E2DE"/>
                </a:solidFill>
                <a:latin typeface="Yu Gothic"/>
                <a:ea typeface="Yu Gothic"/>
                <a:cs typeface="Yu Gothic"/>
              </a:rPr>
              <a:t>直した後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その種類の質問は、実は</a:t>
            </a:r>
          </a:p>
          <a:p>
            <a:pPr algn="l">
              <a:spcAft>
                <a:spcPts val="1000"/>
              </a:spcAft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素朴な構成でも全部解けていた。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結論はまるごと逆になった。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F6E2DE"/>
                </a:solidFill>
                <a:latin typeface="Yu Gothic"/>
                <a:ea typeface="Yu Gothic"/>
                <a:cs typeface="Yu Gothic"/>
              </a:rPr>
              <a:t>別の結論も 1 つひっくり返った。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測る物差しが狂っていると、間違った結論に自信を持ってたどり着く。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いまは、正解表そのものを毎回自動で検査するようにしている。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この数字をどこまで信じてよいか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41 問という規模には、検出できる差の下限がある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26771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文書の切り方を変えた効果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21284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+0.32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226771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十分に大きい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01752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143000" y="327355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両方を混ぜた効果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21868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+0.008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27355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誤差と区別できない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023360"/>
            <a:ext cx="105156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43000" y="4279392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並べ替えを足した効果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224528"/>
            <a:ext cx="1645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+0.05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279392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この問題数では確かめられない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自信を持って言えるのは「文書の切り方」の効果だけ。残り 2 つは、そう見えただけかもしれない。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手法そのものを否定するものではない。言えないのは「この 41 問で証明した」という部分。</a:t>
            </a:r>
          </a:p>
          <a:p>
            <a:pPr algn="l">
              <a:spcAft>
                <a:spcPts val="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確かめるには 100 問規模が必要という試算だった。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社内導入するなら ： データはどこまで外に出るか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0700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「学習されますか」より「保存されますか、どこに」が正しい問い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231136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検索だけ（今回作った範囲）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2231136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何も外に出ない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852928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43000" y="3072384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検索はローカル ＋ 回答生成だけ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072384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ヒットした一部の文章のみ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694176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143000" y="39136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文書の数値化も 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913632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全文書を外部に送信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535424"/>
            <a:ext cx="10515600" cy="731520"/>
          </a:xfrm>
          <a:prstGeom prst="roundRect">
            <a:avLst>
              <a:gd name="adj" fmla="val 6000"/>
            </a:avLst>
          </a:prstGeom>
          <a:solidFill>
            <a:srgbClr val="ED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143000" y="475488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生成もローカル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754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B85042"/>
                </a:solidFill>
                <a:latin typeface="Yu Gothic"/>
                <a:ea typeface="Yu Gothic"/>
                <a:cs typeface="Yu Gothic"/>
              </a:rPr>
              <a:t>何も外に出ない（要スペック）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5486400"/>
            <a:ext cx="10515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3000" y="5669280"/>
            <a:ext cx="9784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3B2F2A"/>
                </a:solidFill>
                <a:latin typeface="Yu Gothic"/>
                <a:ea typeface="Yu Gothic"/>
                <a:cs typeface="Yu Gothic"/>
              </a:rPr>
              <a:t>今回の検証は全てローカルで完結。文書は 1 バイトも外に出していない。費用も 0 円。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7A6E66"/>
                </a:solidFill>
                <a:latin typeface="Yu Gothic"/>
                <a:ea typeface="Yu Gothic"/>
                <a:cs typeface="Yu Gothic"/>
              </a:rPr>
              <a:t>権限制御は未実装。実運用では「その人が見てよい文書だけ」を検索対象にする仕組みが必須。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2F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まとめ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920240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938528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AI は検索していない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探すのは普通のプログラム。AI は渡された文章を読むだけ。
探せなかったものは、AI には救えない。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3310128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効いたのは地味な前処理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高性能な AI に替えるより、文書の切り方を直すほうが効いた。
0.605 → 0.927。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4663440"/>
            <a:ext cx="548640" cy="548640"/>
          </a:xfrm>
          <a:prstGeom prst="ellipse">
            <a:avLst/>
          </a:prstGeom>
          <a:solidFill>
            <a:srgbClr val="B850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4681727"/>
            <a:ext cx="95097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測る物差しを先に疑う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CFC6BE"/>
                </a:solidFill>
                <a:latin typeface="Yu Gothic"/>
                <a:ea typeface="Yu Gothic"/>
                <a:cs typeface="Yu Gothic"/>
              </a:rPr>
              <a:t>正解表が 2 問間違っていて、結論が 2 つ逆になった。
「良くなった気がする」は当てにならない。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7E9C8D"/>
                </a:solidFill>
                <a:latin typeface="Yu Gothic"/>
                <a:ea typeface="Yu Gothic"/>
                <a:cs typeface="Yu Gothic"/>
              </a:rPr>
              <a:t>コードと詳しい解説は社内リポジトリに置いています。手元で動かせます。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