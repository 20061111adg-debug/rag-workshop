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RAGという仕組みについて、専門用語をなるべく使わずに説明します。まず名前の意味から。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まず名前から。Retrieval が検索、Generation が生成。その2つを Augmented（補強）でつないだもの、と読むと分かりやすいです。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RAGは要するに『カンニングペーパーを渡す仕組み』です。AIを再学習させる必要がありません。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よく比較される選択肢です。知識と口調、どちらを変えたいのかで選びます。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探すのは普通のプログラムです。AIは最後に渡された文章を読んでいるだけです。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準備の3つは事前に1回やるだけ。質問のたびに動くのは後半の3つです。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チャンク分割です。単純なようでいて、RAGの精度を大きく左右する工程です。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魔法ではなく、ただの数字の比較です。スコアが0.8あるから関連あり、とは言えません。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地味な工程ですが、ベクトルDBが何をしているかはここです。メタデータを一緒に持つことが、権限制御の土台になります。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片方が万能ではないので混ぜます。さらに丁寧に見直す工程を足すこともあります。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AIから見れば、ただの長い1通のメッセージです。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4点だけ持ち帰ってください。特に2つ目、AIは検索していないという点です。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ここから先は埋め込みの仕組みの掘り下げです。時間があれば、または質問が出たら。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魔法ではなく、そうなるように学習させた結果です。苦手分野もはっきりしています。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内積を長さで割るだけです。高校数学のコサインと同じものです。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埋め込みモデルとLLMは別物です。前者は検索用、後者は文章を書く用です。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仕組みの説明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28600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RAG とは何か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93192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Retrieval-Augmented Generation ／ 検索拡張生成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RAG は 3 つの単語の頭文字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Retrieval-Augmented Generation ／ 日本語では「検索拡張生成」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40156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Retrieval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検索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関連する文書を
探してくる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965960"/>
            <a:ext cx="340156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754880" y="22402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Augmented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拡張・補強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探してきた文書で
質問を補強する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965960"/>
            <a:ext cx="340156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66760" y="2240280"/>
            <a:ext cx="2743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Generation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生成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が文章を作る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4340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88720" y="4572000"/>
            <a:ext cx="9784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一言でいうと</a:t>
            </a:r>
          </a:p>
          <a:p>
            <a:pPr algn="l">
              <a:spcAft>
                <a:spcPts val="0"/>
              </a:spcAft>
            </a:pPr>
            <a:r>
              <a:rPr sz="19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AI に答えさせる前に、関連する文書を検索して、質問と一緒に渡す仕組み。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逆に言えば、AI そのものを賢くする技術ではない。渡す材料を用意する技術。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なぜ必要なのか ： AI は自社の社内規程を知らない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社内文書について質問しても答えられない。学習していないので当然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「うちの在宅勤務手当はいくら？」と聞いても答えられない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292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20" y="283464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方法 A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AI に社内規程を覚えさせる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専門知識と費用が必要。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規程が変わるたびにやり直し。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514600"/>
            <a:ext cx="5029200" cy="292608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75120" y="2834640"/>
            <a:ext cx="4297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方法 B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質問と一緒に、関係する部分を渡す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必要なのは「探す仕組み」だけ。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文書を差し替えれば知識も変わる。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← これが RAG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似た選択肢との違い ： ファインチューニング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に知識を入れる方法はもう一つある。用途が違う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18288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828800"/>
            <a:ext cx="3474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ファインチューニング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245059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知識の追加・更新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45059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データを差し替えるだけ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5059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作り直し（再学習）が必要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06324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327355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回答の根拠を示す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27355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出典を添えられる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27355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難しい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8620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43000" y="409651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向いている用途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09651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事実・知識を答えさせる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09651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口調や出力形式を覚えさせる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0916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43000" y="491947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費用と手間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919472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比較的軽い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491947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重い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10515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43000" y="5852160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知識を入れたいなら RAG、しゃべり方を変えたいならファインチューニング。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社内文書を参照させたい、という用途ならほぼ RAG で足りる。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いちばん大事なこと ： AI は検索していない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ここを誤解している人が多い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よくある誤解 ： AI が社内文書を探しに行って答える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「在宅勤務の手当は？」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1868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11879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840479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探す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普通のプログラム
AI は関与しない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0760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2940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貼り付け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見つけた文章を
質問の上に置く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796528" y="3127248"/>
            <a:ext cx="384048" cy="329184"/>
          </a:xfrm>
          <a:prstGeom prst="rightArrow">
            <a:avLst/>
          </a:prstGeom>
          <a:solidFill>
            <a:srgbClr val="C8B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89720" y="2423160"/>
            <a:ext cx="2331720" cy="173736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418320" y="2697480"/>
            <a:ext cx="187451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AI に渡す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の出番はここだけ
1 回呼ぶ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105156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88720" y="4754880"/>
            <a:ext cx="9784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探す段階で見つけられなかった文書は、AI がどれだけ賢くても答えに出てこない。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から見れば「参考資料を添えて質問された」だけ。検索機能が付いたわけではない。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使われている技術は 6 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準備が 3 つ、質問が来てから 3 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準備すること（質問が来る前に 1 回やるだけ）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7899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切る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分厚い規程を紙切れに小分けする。
紙切れは1枚だけ取り出して読まれる。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〈チャンク分割〉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69087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数字にする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紙切れを数字の列に変換する。
意味が近い紙は近い数字になる。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〈埋め込み〉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0312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02752" y="2304288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37743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しまう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94436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数字をまとめて棚にしまう。
これで探せる状態になる。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〈索引〉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148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質問が来てから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078992" y="4636007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探す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同じ言葉の紙を探す方法と、
意味が近い紙を探す方法がある。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〈BM25 / ベクトル検索〉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690872" y="4636007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順番を決める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2つの結果を1つにまとめる。
上位だけ見比べて並べ直す。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〈融合 / リランク〉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34840"/>
            <a:ext cx="3401568" cy="1783080"/>
          </a:xfrm>
          <a:prstGeom prst="roundRect">
            <a:avLst>
              <a:gd name="adj" fmla="val 6000"/>
            </a:avLst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02752" y="4636007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709159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に渡す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5276088"/>
            <a:ext cx="28895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上位の紙を数枚、質問と一緒に。
ここで初めて AI が登場する。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F6E2DE"/>
                </a:solidFill>
                <a:latin typeface="Yu Gothic"/>
                <a:ea typeface="Yu Gothic"/>
                <a:cs typeface="Yu Gothic"/>
              </a:rPr>
              <a:t>〈プロンプト〉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切る 〈チャンク分割〉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紙切れは 1 枚だけ取り出して読まれる。それだけで意味が通る必要がある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502920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✗ 決まった文字数で切る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…離席についてSlackに投稿すること。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6. 通信費および設備の補助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在宅勤務手当として月額5,000円を…</a:t>
            </a:r>
          </a:p>
          <a:p>
            <a:pPr algn="l">
              <a:spcAft>
                <a:spcPts val="1000"/>
              </a:spcAft>
            </a:pPr>
            <a:r>
              <a:rPr sz="11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7. 執務環境の要件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前の話の途中で始まり、次の話の途中で終わる。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この紙だけ読んでも何の話か分からない。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65960"/>
            <a:ext cx="5029200" cy="26517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29400" y="2240280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✓ 見出しごとに切り、見出しを頭に付ける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リモートワーク規程 ＞ 6. 通信費および設備の補助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在宅勤務手当として月額5,000円を支給する。</a:t>
            </a:r>
          </a:p>
          <a:p>
            <a:pPr algn="l">
              <a:spcAft>
                <a:spcPts val="1400"/>
              </a:spcAft>
            </a:pPr>
            <a:r>
              <a:rPr sz="11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スポット在宅のみの利用者には…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この 1 行があるだけで、何の話か分かる。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切り方には、決まった文字数で切る・文の区切りで切る・見出しで切る、などの選択肢がある。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文書の構造をどこまで保てるかが、後の検索のしやすさを左右する。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数字にする 〈埋め込み〉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文章を数字の列に変換する。意味が近い文章は、近い数字になる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51560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784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「在宅勤務手当は月額5,000円」  →  [ 0.061, -0.008, -0.060, -0.035, … ]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「家で働くとお金はもらえる？」  →  [ 0.059, -0.011, -0.057, -0.030, … ]     ← 近い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「在宅勤務手当は月額5,000円」との近さ（1.0 が最も近い）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リモートワークの手当について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3886200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0.866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3922776"/>
            <a:ext cx="3979468" cy="219456"/>
          </a:xfrm>
          <a:prstGeom prst="rect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430682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家で働くとお金はもらえる？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4306824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0.843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4343400"/>
            <a:ext cx="3306470" cy="219456"/>
          </a:xfrm>
          <a:prstGeom prst="rect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新幹線のグリーン車の利用条件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727448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0.787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4764024"/>
            <a:ext cx="1667865" cy="219456"/>
          </a:xfrm>
          <a:prstGeom prst="rect">
            <a:avLst/>
          </a:prstGeom>
          <a:solidFill>
            <a:srgbClr val="C0B6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514807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今日の天気はどうですか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148072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0.769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5184648"/>
            <a:ext cx="1141171" cy="219456"/>
          </a:xfrm>
          <a:prstGeom prst="rect">
            <a:avLst/>
          </a:prstGeom>
          <a:solidFill>
            <a:srgbClr val="C0B6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言葉が一文字も共通していなくても、意味が近ければ数字が近くなる。これが「意味で探す」の正体。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注意 ： 無関係な文でも 0.769 ある。絶対値に意味はなく、順位を比べるためだけに使う。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③ しまう 〈索引〉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数値をまとめて保存しておく。質問のたびに作り直さないための工程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4297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紙切れ 1 枚につき、何を保存するか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・②で作った数値の列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・本文（あとで AI に渡すため）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・出典、見出し、更新日、管掌部署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最後の「一緒に持つ情報」が、後で効いてくる。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029200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2148840"/>
            <a:ext cx="4297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なぜ事前にやるのか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文書側の数値化は 1 回やれば済む。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質問のたびに計算するのは、質問文 1 本だけ。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だから検索は速い。重い処理は前倒ししてある。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保存した数値から、どう探すか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7200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88720" y="475488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数万件まで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全部と順番に比べるだけで間に合う。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572000"/>
            <a:ext cx="50292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数十万件を超えたら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ほぼ正確な答えを高速に返す方式を使う〈ANN〉。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978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この保存と検索を専門に引き受けるのが「ベクトルDB」。実態はこの工程の置き換え。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一緒に保存したメタデータで「その人が見てよい文書だけ」に絞り込める。実運用では必須。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④ 探す ／ ⑤ 順番を決める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探し方は 2 通り。得意分野が逆なので、両方使って混ぜることが多い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194560"/>
            <a:ext cx="4297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同じ言葉が書いてある紙を探す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〈BM25〉昔からある全文検索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得意 ： VaultTeam のような固有名詞・型番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苦手 ： 言い換え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029200" cy="210312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2194560"/>
            <a:ext cx="4297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意味が近い紙を探す</a:t>
            </a:r>
          </a:p>
          <a:p>
            <a:pPr algn="l">
              <a:spcAft>
                <a:spcPts val="120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〈ベクトル検索〉②の数字を使う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得意 ： 「家で働く」で「在宅勤務」が見つかる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苦手 ： 知らない固有名詞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97680"/>
            <a:ext cx="5029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88720" y="452628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⑤-1 混ぜる 〈融合〉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2つの結果を1つのリストにまとめる。点数の単位が違うので、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順位だけを使って合体させる方法（RRF）がよく使われる。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297680"/>
            <a:ext cx="50292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75120" y="452628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⑤-2 並べ直す 〈リランク〉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上位の紙だけを、質問とつなげて1件ずつ精査し直す。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精度は上がるが、件数分の計算が要るので遅い。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⑥ AI に渡す 〈プロンプト〉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これが実際の送信内容。これ以上でも以下でもない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1051560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97840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# 参考文書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[1] 出典: リモートワーク規程 / 6. 通信費および設備の補助（更新日: 2026-04-01）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在宅勤務手当として月額5,000円を支給する。ハイブリッド勤務者も同額を支給する。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# 質問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在宅勤務の手当はいくらですか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あわせて「参考文書に無ければ、推測せず『記載がありません』と答えること」も指示する。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AI は知らないことをもっともらしく作る性質がある（ハルシネーション）。その予防。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出典を添えて渡すことで、回答に引用を付けさせることもできる。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F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822960" y="1920240"/>
            <a:ext cx="475488" cy="47548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938528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RAG は「検索で強化した生成」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関連する文書を検索し、その内容を添えて AI に答えさせる仕組み。
主役は生成で、検索はそれを支える手段。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035808"/>
            <a:ext cx="475488" cy="47548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3054096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AI は検索していない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探すのは普通のプログラム。AI の出番は最後に 1 回だけ。
探す段階で見つけられなかった文書は、AI には救えない。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151376"/>
            <a:ext cx="475488" cy="47548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169663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工程は 6 つ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準備で ①切る ②数字にする ③しまう。質問が来てから ④探す ⑤順番を決める ⑥渡す。
準備の 3 つは、質問が来る前に 1 回やっておくだけ。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5266944"/>
            <a:ext cx="475488" cy="475488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5285231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質を決めるのは検索側</a:t>
            </a:r>
          </a:p>
          <a:p>
            <a:pPr algn="l">
              <a:spcAft>
                <a:spcPts val="0"/>
              </a:spcAft>
            </a:pPr>
            <a:r>
              <a:rPr sz="1250" b="0">
                <a:solidFill>
                  <a:srgbClr val="CFC6BE"/>
                </a:solidFill>
                <a:latin typeface="Yu Gothic"/>
                <a:ea typeface="Yu Gothic"/>
                <a:cs typeface="Yu Gothic"/>
              </a:rPr>
              <a:t>特に「どこで切るか」と「どう探すか」。
言い換えに弱い検索と、固有名詞に弱い検索を組み合わせて補う。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806440"/>
            <a:ext cx="10515600" cy="685800"/>
          </a:xfrm>
          <a:prstGeom prst="roundRect">
            <a:avLst>
              <a:gd name="adj" fmla="val 6000"/>
            </a:avLst>
          </a:prstGeom>
          <a:solidFill>
            <a:srgbClr val="4C3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88720" y="5989320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7E9C8D"/>
                </a:solidFill>
                <a:latin typeface="Yu Gothic"/>
                <a:ea typeface="Yu Gothic"/>
                <a:cs typeface="Yu Gothic"/>
              </a:rPr>
              <a:t>RAG は AI そのものを賢くする技術ではなく、AI に渡す材料を用意する技術。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60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803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付録 ： もう少し詳しく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E5E0DA"/>
                </a:solidFill>
                <a:latin typeface="Yu Gothic"/>
                <a:ea typeface="Yu Gothic"/>
                <a:cs typeface="Yu Gothic"/>
              </a:rPr>
              <a:t>発表では飛ばします。質問が出たとき用。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なぜ、違う言葉なのに数値が近くなるのか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文字を変換しているのではなく、意味の位置を出している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097280" y="2194560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285292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意味の地図上の座標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ベクトルは文字列を変換したものではなく、
意味空間における住所のようなもの。
言葉が違っても、意味が同じ場所なら近くなる。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4709160" y="2194560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2834640"/>
            <a:ext cx="285292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そうなるよう訓練されている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質問と答え、言い換え同士のペアは近づけ、
無関係なものは遠ざける学習を大量に繰り返す。
〈対照学習〉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401568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321040" y="2194560"/>
            <a:ext cx="457200" cy="457200"/>
          </a:xfrm>
          <a:prstGeom prst="ellipse">
            <a:avLst/>
          </a:prstGeom>
          <a:solidFill>
            <a:srgbClr val="B850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34640"/>
            <a:ext cx="285292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似た文脈で使われる語は似た意味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「在宅勤務」と「家で働く」は、同じような
文の中で使われる。その共起パターンから
意味の近さを学んでいる。〈分布仮説〉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84632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88720" y="5074920"/>
            <a:ext cx="97840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苦手なこと ： 学習データにほとんど出てこない語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社内の略語、製品の型番、固有名詞など。意味の地図に載っていないので、正しい場所に置けない。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→ だから「同じ言葉を探す検索」と併用する。これがハイブリッド検索を使う理由。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近さはどう測るのか 〈コサイン類似度〉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2 本の矢印が、どれくらい同じ向きを向いているかを見る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矢印のなす角度と、その値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60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0°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560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560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同じ向き → ほぼ同じ意味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17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60°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0175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ある程度関係がある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4747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90°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4747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747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無関係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9319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180°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9319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9319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正反対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920240"/>
            <a:ext cx="5029200" cy="26517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75120" y="2148840"/>
            <a:ext cx="42976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計算の例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A = (3, 4)　B = (4, 3) のとき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① かけて足す ： 3×4 + 4×3 = 24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② 長さ ： |A| = 5、|B| = 5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③ 24 ÷ (5×5) = 0.96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実際の埋め込みは 384 次元だが、計算方法は同じ。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長さで割るのが要点。向きだけを比べるので、長い文章と短い文章でも公平に比較できる。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ただし実務でスコアの絶対値はあてにならない。無関係な文でも 0.7 台が出ることがある。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見るべきは絶対値ではなく、候補同士の順位。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埋め込みモデルは 2 回登場する ： 必ず同じものを使う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070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準備のときと、質問のとき。ここを間違えると検索が成立しない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502920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準備のとき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すべての紙切れを数値に変換して保存する。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文書が増えたら、その分だけ追加する。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029200" cy="1737360"/>
          </a:xfrm>
          <a:prstGeom prst="roundRect">
            <a:avLst>
              <a:gd name="adj" fmla="val 6000"/>
            </a:avLst>
          </a:prstGeom>
          <a:solidFill>
            <a:srgbClr val="ED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2148840"/>
            <a:ext cx="4297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質問のとき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質問文を数値に変換して、保存済みの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数値と近さを比べる。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88620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4069080"/>
            <a:ext cx="9784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違うモデルを使うと「意味の地図」が別物になり、そもそも比較が成立しない。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埋め込みモデルを入れ替えたら、保存済みの数値はすべて作り直しになる。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一方 LLM は最後に 1 回だけ。こちらは自由に差し替えられる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534924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B85042"/>
                </a:solidFill>
                <a:latin typeface="Yu Gothic"/>
                <a:ea typeface="Yu Gothic"/>
                <a:cs typeface="Yu Gothic"/>
              </a:rPr>
              <a:t>埋め込みモデル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534924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LLM（生成モデル）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6235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役割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56235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文章 → 数値の列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56235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文章 → 文章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92531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RAG での出番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92531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準備のときと、質問のとき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592531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最後の回答生成だけ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622706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大きさと費用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622706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3B2F2A"/>
                </a:solidFill>
                <a:latin typeface="Yu Gothic"/>
                <a:ea typeface="Yu Gothic"/>
                <a:cs typeface="Yu Gothic"/>
              </a:rPr>
              <a:t>小さい・速い・安い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6227064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A6E66"/>
                </a:solidFill>
                <a:latin typeface="Yu Gothic"/>
                <a:ea typeface="Yu Gothic"/>
                <a:cs typeface="Yu Gothic"/>
              </a:rPr>
              <a:t>大きい・遅い・高い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